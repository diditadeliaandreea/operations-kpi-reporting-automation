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Older Week</c:v>
                </c:pt>
              </c:strCache>
            </c:strRef>
          </c:tx>
          <c:spPr>
            <a:solidFill>
              <a:srgbClr val="4F89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Tasks</c:v>
                  </c:pt>
                  <c:pt idx="1">
                    <c:v>SLA Met</c:v>
                  </c:pt>
                  <c:pt idx="2">
                    <c:v>SLA Breaches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</c:v>
                </c:pt>
                <c:pt idx="1">
                  <c:v>7</c:v>
                </c:pt>
                <c:pt idx="2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Recent Week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Tasks</c:v>
                  </c:pt>
                  <c:pt idx="1">
                    <c:v>SLA Met</c:v>
                  </c:pt>
                  <c:pt idx="2">
                    <c:v>SLA Breaches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56</c:v>
                </c:pt>
                <c:pt idx="1">
                  <c:v>11</c:v>
                </c:pt>
                <c:pt idx="2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Older Week</c:v>
                </c:pt>
              </c:strCache>
            </c:strRef>
          </c:tx>
          <c:spPr>
            <a:solidFill>
              <a:srgbClr val="4F89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Quality Review</c:v>
                  </c:pt>
                  <c:pt idx="1">
                    <c:v>Complex Case Review</c:v>
                  </c:pt>
                  <c:pt idx="2">
                    <c:v>Process Exception Investigation</c:v>
                  </c:pt>
                  <c:pt idx="3">
                    <c:v>Priority Escalation Review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Recent Week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Quality Review</c:v>
                  </c:pt>
                  <c:pt idx="1">
                    <c:v>Complex Case Review</c:v>
                  </c:pt>
                  <c:pt idx="2">
                    <c:v>Process Exception Investigation</c:v>
                  </c:pt>
                  <c:pt idx="3">
                    <c:v>Priority Escalation Review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15</c:v>
                </c:pt>
                <c:pt idx="1">
                  <c:v>13</c:v>
                </c:pt>
                <c:pt idx="2">
                  <c:v>12</c:v>
                </c:pt>
                <c:pt idx="3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3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Met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Older Week</c:v>
                  </c:pt>
                  <c:pt idx="1">
                    <c:v>Recent Week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11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SLA Breached</c:v>
                </c:pt>
              </c:strCache>
            </c:strRef>
          </c:tx>
          <c:spPr>
            <a:solidFill>
              <a:srgbClr val="C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Older Week</c:v>
                  </c:pt>
                  <c:pt idx="1">
                    <c:v>Recent Week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</c:v>
                </c:pt>
                <c:pt idx="1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Compliance %</c:v>
                </c:pt>
              </c:strCache>
            </c:strRef>
          </c:tx>
          <c:spPr>
            <a:solidFill>
              <a:srgbClr val="70AD47"/>
            </a:solidFill>
            <a:ln w="25400" cap="flat">
              <a:solidFill>
                <a:srgbClr val="70AD4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0AD47"/>
              </a:solidFill>
              <a:ln w="9525" cap="flat">
                <a:solidFill>
                  <a:srgbClr val="70AD4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Older Week</c:v>
                  </c:pt>
                  <c:pt idx="1">
                    <c:v>Recent Week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</c:v>
                </c:pt>
                <c:pt idx="1">
                  <c:v>68.8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Older Week</c:v>
                </c:pt>
              </c:strCache>
            </c:strRef>
          </c:tx>
          <c:spPr>
            <a:solidFill>
              <a:srgbClr val="4F89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Team Alpha</c:v>
                  </c:pt>
                  <c:pt idx="1">
                    <c:v>Team Beta</c:v>
                  </c:pt>
                  <c:pt idx="2">
                    <c:v>Team Gamma</c:v>
                  </c:pt>
                  <c:pt idx="3">
                    <c:v>Team Delta</c:v>
                  </c:pt>
                  <c:pt idx="4">
                    <c:v>Team Epsilon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Recent Week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Team Alpha</c:v>
                  </c:pt>
                  <c:pt idx="1">
                    <c:v>Team Beta</c:v>
                  </c:pt>
                  <c:pt idx="2">
                    <c:v>Team Gamma</c:v>
                  </c:pt>
                  <c:pt idx="3">
                    <c:v>Team Delta</c:v>
                  </c:pt>
                  <c:pt idx="4">
                    <c:v>Team Epsilon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11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Change</c:v>
                </c:pt>
              </c:strCache>
            </c:strRef>
          </c:tx>
          <c:spPr>
            <a:solidFill>
              <a:srgbClr val="4F89C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Team Alpha</c:v>
                  </c:pt>
                  <c:pt idx="1">
                    <c:v>Team Beta</c:v>
                  </c:pt>
                  <c:pt idx="2">
                    <c:v>Team Gamma</c:v>
                  </c:pt>
                  <c:pt idx="3">
                    <c:v>Team Delta</c:v>
                  </c:pt>
                  <c:pt idx="4">
                    <c:v>Team Epsilon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16.7</c:v>
                </c:pt>
                <c:pt idx="1">
                  <c:v>8.3</c:v>
                </c:pt>
                <c:pt idx="2">
                  <c:v>33.3</c:v>
                </c:pt>
                <c:pt idx="3">
                  <c:v>-16.7</c:v>
                </c:pt>
                <c:pt idx="4">
                  <c:v>41.7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-2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Recent Volume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89C7"/>
              </a:solidFill>
              <a:effectLst/>
            </c:spPr>
          </c:dPt>
          <c:dPt>
            <c:idx val="1"/>
            <c:bubble3D val="0"/>
            <c:spPr>
              <a:solidFill>
                <a:srgbClr val="B7DEE8"/>
              </a:solidFill>
              <a:effectLst/>
            </c:spPr>
          </c:dPt>
          <c:dPt>
            <c:idx val="2"/>
            <c:bubble3D val="0"/>
            <c:spPr>
              <a:solidFill>
                <a:srgbClr val="F4B183"/>
              </a:solidFill>
              <a:effectLst/>
            </c:spPr>
          </c:dPt>
          <c:dPt>
            <c:idx val="3"/>
            <c:bubble3D val="0"/>
            <c:spPr>
              <a:solidFill>
                <a:srgbClr val="70AD47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Quality Review</c:v>
                </c:pt>
                <c:pt idx="1">
                  <c:v>Complex Case Review</c:v>
                </c:pt>
                <c:pt idx="2">
                  <c:v>Process Exception Investigation</c:v>
                </c:pt>
                <c:pt idx="3">
                  <c:v>Priority Escalation Review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26.8</c:v>
                </c:pt>
                <c:pt idx="1">
                  <c:v>23.2</c:v>
                </c:pt>
                <c:pt idx="2">
                  <c:v>21.4</c:v>
                </c:pt>
                <c:pt idx="3">
                  <c:v>28.6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8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36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Process Quality KPI Report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5303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BF7"/>
                </a:solidFill>
              </a:rPr>
              <a:t>Performance metrics case study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58368" y="175564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7D1EA"/>
                </a:solidFill>
              </a:rPr>
              <a:t>2026-06-29–2026-07-05 vs 2026-07-06–2026-07-12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8368" y="2743200"/>
            <a:ext cx="2331720" cy="1143000"/>
          </a:xfrm>
          <a:prstGeom prst="rect">
            <a:avLst/>
          </a:prstGeom>
          <a:solidFill>
            <a:srgbClr val="1F4E78"/>
          </a:solidFill>
          <a:ln w="8890">
            <a:solidFill>
              <a:srgbClr val="B7D1EA">
                <a:alpha val="4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56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Tasks completed</a:t>
            </a:r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820" dirty="0">
                <a:solidFill>
                  <a:srgbClr val="DDEBF7"/>
                </a:solidFill>
              </a:rPr>
              <a:t>+27.3% WoW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46120" y="2743200"/>
            <a:ext cx="2468880" cy="1143000"/>
          </a:xfrm>
          <a:prstGeom prst="rect">
            <a:avLst/>
          </a:prstGeom>
          <a:solidFill>
            <a:srgbClr val="1F4E78"/>
          </a:solidFill>
          <a:ln w="8890">
            <a:solidFill>
              <a:srgbClr val="B7D1EA">
                <a:alpha val="4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68.8%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SLA compliance</a:t>
            </a:r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820" dirty="0">
                <a:solidFill>
                  <a:srgbClr val="DDEBF7"/>
                </a:solidFill>
              </a:rPr>
              <a:t>+18.8pp WoW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89320" y="2743200"/>
            <a:ext cx="2423160" cy="1143000"/>
          </a:xfrm>
          <a:prstGeom prst="rect">
            <a:avLst/>
          </a:prstGeom>
          <a:solidFill>
            <a:srgbClr val="1F4E78"/>
          </a:solidFill>
          <a:ln w="8890">
            <a:solidFill>
              <a:srgbClr val="B7D1EA">
                <a:alpha val="4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5
</a:t>
            </a:r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SLA breaches</a:t>
            </a:r>
            <a:pPr indent="0" marL="0">
              <a:buNone/>
            </a:pPr>
            <a:endParaRPr lang="en-US" sz="2600" dirty="0"/>
          </a:p>
          <a:p>
            <a:pPr indent="0" marL="0">
              <a:buNone/>
            </a:pPr>
            <a:r>
              <a:rPr lang="en-US" sz="820" dirty="0">
                <a:solidFill>
                  <a:srgbClr val="DDEBF7"/>
                </a:solidFill>
              </a:rPr>
              <a:t>down from 7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498348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</a:rPr>
              <a:t>This deck translates the Excel KPI report into a clear case-study story: what changed, where performance improved, and what the automation made visible.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41080" y="685800"/>
            <a:ext cx="2697480" cy="365760"/>
          </a:xfrm>
          <a:prstGeom prst="rect">
            <a:avLst/>
          </a:prstGeom>
          <a:solidFill>
            <a:srgbClr val="4F89C7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Case-study focus: specific KPI data and insights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75720" y="649224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DDEBF7"/>
                </a:solidFill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performance snapshot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recent week shows higher throughput, better SLA control, and a more mature task mix.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23317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5DCE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</a:rPr>
              <a:t>56
</a:t>
            </a:r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Total tasks completed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44 → 56 (+12)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46120" y="1234440"/>
            <a:ext cx="23317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5DCE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0AD47"/>
                </a:solidFill>
              </a:rPr>
              <a:t>68.8%
</a:t>
            </a:r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SLA compliance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50.0% → 68.8%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852160" y="1234440"/>
            <a:ext cx="23317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5DCE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00000"/>
                </a:solidFill>
              </a:rPr>
              <a:t>5
</a:t>
            </a:r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SLA breaches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7 → 5 (−28.6%)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458200" y="1234440"/>
            <a:ext cx="233172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5DCE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F89C7"/>
                </a:solidFill>
              </a:rPr>
              <a:t>28.6%
</a:t>
            </a:r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Priority share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31.8% → 28.6%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788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365D"/>
                </a:solidFill>
              </a:rPr>
              <a:t>Overall KPI movement</a:t>
            </a:r>
            <a:endParaRPr lang="en-US" sz="11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58368" y="3072384"/>
          <a:ext cx="52120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400800" y="2971800"/>
            <a:ext cx="5120640" cy="822960"/>
          </a:xfrm>
          <a:prstGeom prst="rect">
            <a:avLst/>
          </a:prstGeom>
          <a:solidFill>
            <a:srgbClr val="F8FBFF"/>
          </a:solidFill>
          <a:ln w="13970">
            <a:solidFill>
              <a:srgbClr val="70AD47">
                <a:alpha val="8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Key insight: volume increased by 27.3% while SLA breaches fell by 28.6%, which suggests throughput improved without sacrificing service performance.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00800" y="4069080"/>
            <a:ext cx="5120640" cy="822960"/>
          </a:xfrm>
          <a:prstGeom prst="rect">
            <a:avLst/>
          </a:prstGeom>
          <a:solidFill>
            <a:srgbClr val="F8FBFF"/>
          </a:solidFill>
          <a:ln w="13970">
            <a:solidFill>
              <a:srgbClr val="1F4E78">
                <a:alpha val="8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The recent week handled 16 priority escalation reviews, but only 5 missed SLA, compared with 7 misses from 14 priority reviews in the prior week.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0" y="5166360"/>
            <a:ext cx="5120640" cy="685800"/>
          </a:xfrm>
          <a:prstGeom prst="rect">
            <a:avLst/>
          </a:prstGeom>
          <a:solidFill>
            <a:srgbClr val="F8FBFF"/>
          </a:solidFill>
          <a:ln w="13970">
            <a:solidFill>
              <a:srgbClr val="4F89C7">
                <a:alpha val="8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Business value: a management-ready view of task volume, risk, and team-level performance in one workbook.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Process Quality KPI Reporting Automation · Portfolio case study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11475720" y="649224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volume increased across every work type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recent week grew from 44 to 56 completed tasks, with no task category declining.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234440"/>
          <a:ext cx="649224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452360" y="1325880"/>
            <a:ext cx="2240280" cy="310896"/>
          </a:xfrm>
          <a:prstGeom prst="rect">
            <a:avLst/>
          </a:prstGeom>
          <a:solidFill>
            <a:srgbClr val="1F4E78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Type</a:t>
            </a:r>
            <a:endParaRPr lang="en-US" sz="820" dirty="0"/>
          </a:p>
        </p:txBody>
      </p:sp>
      <p:sp>
        <p:nvSpPr>
          <p:cNvPr id="6" name="Text 3"/>
          <p:cNvSpPr/>
          <p:nvPr/>
        </p:nvSpPr>
        <p:spPr>
          <a:xfrm>
            <a:off x="9692640" y="1325880"/>
            <a:ext cx="530352" cy="310896"/>
          </a:xfrm>
          <a:prstGeom prst="rect">
            <a:avLst/>
          </a:prstGeom>
          <a:solidFill>
            <a:srgbClr val="1F4E78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Older</a:t>
            </a:r>
            <a:endParaRPr lang="en-US" sz="820" dirty="0"/>
          </a:p>
        </p:txBody>
      </p:sp>
      <p:sp>
        <p:nvSpPr>
          <p:cNvPr id="7" name="Text 4"/>
          <p:cNvSpPr/>
          <p:nvPr/>
        </p:nvSpPr>
        <p:spPr>
          <a:xfrm>
            <a:off x="10222992" y="1325880"/>
            <a:ext cx="566928" cy="310896"/>
          </a:xfrm>
          <a:prstGeom prst="rect">
            <a:avLst/>
          </a:prstGeom>
          <a:solidFill>
            <a:srgbClr val="1F4E78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</a:t>
            </a:r>
            <a:endParaRPr lang="en-US" sz="820" dirty="0"/>
          </a:p>
        </p:txBody>
      </p:sp>
      <p:sp>
        <p:nvSpPr>
          <p:cNvPr id="8" name="Text 5"/>
          <p:cNvSpPr/>
          <p:nvPr/>
        </p:nvSpPr>
        <p:spPr>
          <a:xfrm>
            <a:off x="10789920" y="1325880"/>
            <a:ext cx="548640" cy="310896"/>
          </a:xfrm>
          <a:prstGeom prst="rect">
            <a:avLst/>
          </a:prstGeom>
          <a:solidFill>
            <a:srgbClr val="1F4E78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</a:t>
            </a:r>
            <a:endParaRPr lang="en-US" sz="820" dirty="0"/>
          </a:p>
        </p:txBody>
      </p:sp>
      <p:sp>
        <p:nvSpPr>
          <p:cNvPr id="9" name="Text 6"/>
          <p:cNvSpPr/>
          <p:nvPr/>
        </p:nvSpPr>
        <p:spPr>
          <a:xfrm>
            <a:off x="7452360" y="1636776"/>
            <a:ext cx="224028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Review</a:t>
            </a:r>
            <a:endParaRPr lang="en-US" sz="820" dirty="0"/>
          </a:p>
        </p:txBody>
      </p:sp>
      <p:sp>
        <p:nvSpPr>
          <p:cNvPr id="10" name="Text 7"/>
          <p:cNvSpPr/>
          <p:nvPr/>
        </p:nvSpPr>
        <p:spPr>
          <a:xfrm>
            <a:off x="9692640" y="1636776"/>
            <a:ext cx="53035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0222992" y="1636776"/>
            <a:ext cx="566928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20" dirty="0"/>
          </a:p>
        </p:txBody>
      </p:sp>
      <p:sp>
        <p:nvSpPr>
          <p:cNvPr id="12" name="Text 9"/>
          <p:cNvSpPr/>
          <p:nvPr/>
        </p:nvSpPr>
        <p:spPr>
          <a:xfrm>
            <a:off x="10789920" y="1636776"/>
            <a:ext cx="5486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7452360" y="1947672"/>
            <a:ext cx="2240280" cy="310896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Case Review</a:t>
            </a: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9692640" y="1947672"/>
            <a:ext cx="530352" cy="310896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20" dirty="0"/>
          </a:p>
        </p:txBody>
      </p:sp>
      <p:sp>
        <p:nvSpPr>
          <p:cNvPr id="15" name="Text 12"/>
          <p:cNvSpPr/>
          <p:nvPr/>
        </p:nvSpPr>
        <p:spPr>
          <a:xfrm>
            <a:off x="10222992" y="1947672"/>
            <a:ext cx="566928" cy="310896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20" dirty="0"/>
          </a:p>
        </p:txBody>
      </p:sp>
      <p:sp>
        <p:nvSpPr>
          <p:cNvPr id="16" name="Text 13"/>
          <p:cNvSpPr/>
          <p:nvPr/>
        </p:nvSpPr>
        <p:spPr>
          <a:xfrm>
            <a:off x="10789920" y="1947672"/>
            <a:ext cx="548640" cy="310896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452360" y="2258568"/>
            <a:ext cx="224028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Exception Investigation</a:t>
            </a:r>
            <a:endParaRPr lang="en-US" sz="820" dirty="0"/>
          </a:p>
        </p:txBody>
      </p:sp>
      <p:sp>
        <p:nvSpPr>
          <p:cNvPr id="18" name="Text 15"/>
          <p:cNvSpPr/>
          <p:nvPr/>
        </p:nvSpPr>
        <p:spPr>
          <a:xfrm>
            <a:off x="9692640" y="2258568"/>
            <a:ext cx="530352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10222992" y="2258568"/>
            <a:ext cx="566928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20" dirty="0"/>
          </a:p>
        </p:txBody>
      </p:sp>
      <p:sp>
        <p:nvSpPr>
          <p:cNvPr id="20" name="Text 17"/>
          <p:cNvSpPr/>
          <p:nvPr/>
        </p:nvSpPr>
        <p:spPr>
          <a:xfrm>
            <a:off x="10789920" y="2258568"/>
            <a:ext cx="548640" cy="310896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7452360" y="2569464"/>
            <a:ext cx="2240280" cy="310896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Escalation Review</a:t>
            </a:r>
            <a:endParaRPr lang="en-US" sz="820" dirty="0"/>
          </a:p>
        </p:txBody>
      </p:sp>
      <p:sp>
        <p:nvSpPr>
          <p:cNvPr id="22" name="Text 19"/>
          <p:cNvSpPr/>
          <p:nvPr/>
        </p:nvSpPr>
        <p:spPr>
          <a:xfrm>
            <a:off x="9692640" y="2569464"/>
            <a:ext cx="530352" cy="310896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0222992" y="2569464"/>
            <a:ext cx="566928" cy="310896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10789920" y="2569464"/>
            <a:ext cx="548640" cy="310896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7452360" y="3657600"/>
            <a:ext cx="4023360" cy="1005840"/>
          </a:xfrm>
          <a:prstGeom prst="rect">
            <a:avLst/>
          </a:prstGeom>
          <a:solidFill>
            <a:srgbClr val="F8FBFF"/>
          </a:solidFill>
          <a:ln w="13970">
            <a:solidFill>
              <a:srgbClr val="1F4E78">
                <a:alpha val="8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Largest absolute lift: Quality Review increased by +4 tasks. The other categories also increased, supporting a broad productivity gain rather than a single-category spike.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7452360" y="4892040"/>
            <a:ext cx="4023360" cy="777240"/>
          </a:xfrm>
          <a:prstGeom prst="rect">
            <a:avLst/>
          </a:prstGeom>
          <a:solidFill>
            <a:srgbClr val="F8FBFF"/>
          </a:solidFill>
          <a:ln w="13970">
            <a:solidFill>
              <a:srgbClr val="4F89C7">
                <a:alpha val="8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Priority Escalations rose only +2 while overall throughput rose +12, lowering the priority share from 31.8% to 28.6%.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Process Quality KPI Reporting Automation · Portfolio case study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1475720" y="649224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3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SLA performance improved while priority volume rose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process handled more priority work and reduced the number of SLA misses.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94360" y="114300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92240" y="1143000"/>
          <a:ext cx="4983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6629400" y="406908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5DCE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0AD47"/>
                </a:solidFill>
              </a:rPr>
              <a:t>11
</a:t>
            </a:r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SLA met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+4 WoW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8869680" y="4069080"/>
            <a:ext cx="20116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5DCE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00000"/>
                </a:solidFill>
              </a:rPr>
              <a:t>5
</a:t>
            </a:r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SLA breaches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−2 WoW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731520" y="5376672"/>
            <a:ext cx="10698480" cy="530352"/>
          </a:xfrm>
          <a:prstGeom prst="rect">
            <a:avLst/>
          </a:prstGeom>
          <a:solidFill>
            <a:srgbClr val="F8FBFF"/>
          </a:solidFill>
          <a:ln w="13970">
            <a:solidFill>
              <a:srgbClr val="70AD47">
                <a:alpha val="8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Interpretation: SLA compliance improved from 50.0% to 68.8%, an +18.8 percentage-point movement, even with priority escalation volume increasing from 14 to 16 tasks.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Process Quality KPI Reporting Automation · Portfolio case study</a:t>
            </a:r>
            <a:endParaRPr lang="en-US" sz="720" dirty="0"/>
          </a:p>
        </p:txBody>
      </p:sp>
      <p:sp>
        <p:nvSpPr>
          <p:cNvPr id="10" name="Text 6"/>
          <p:cNvSpPr/>
          <p:nvPr/>
        </p:nvSpPr>
        <p:spPr>
          <a:xfrm>
            <a:off x="11475720" y="649224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performance: volume gains were broad, SLA gains were uneven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Each team completed more tasks in the recent week, but SLA performance shifted differently by team.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143000"/>
          <a:ext cx="54864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143000"/>
          <a:ext cx="534924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685800" y="4800600"/>
            <a:ext cx="1371600" cy="256032"/>
          </a:xfrm>
          <a:prstGeom prst="rect">
            <a:avLst/>
          </a:prstGeom>
          <a:solidFill>
            <a:srgbClr val="1F4E78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70" dirty="0"/>
          </a:p>
        </p:txBody>
      </p:sp>
      <p:sp>
        <p:nvSpPr>
          <p:cNvPr id="7" name="Text 3"/>
          <p:cNvSpPr/>
          <p:nvPr/>
        </p:nvSpPr>
        <p:spPr>
          <a:xfrm>
            <a:off x="2057400" y="4800600"/>
            <a:ext cx="822960" cy="256032"/>
          </a:xfrm>
          <a:prstGeom prst="rect">
            <a:avLst/>
          </a:prstGeom>
          <a:solidFill>
            <a:srgbClr val="1F4E78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 Δ</a:t>
            </a:r>
            <a:endParaRPr lang="en-US" sz="870" dirty="0"/>
          </a:p>
        </p:txBody>
      </p:sp>
      <p:sp>
        <p:nvSpPr>
          <p:cNvPr id="8" name="Text 4"/>
          <p:cNvSpPr/>
          <p:nvPr/>
        </p:nvSpPr>
        <p:spPr>
          <a:xfrm>
            <a:off x="2880360" y="4800600"/>
            <a:ext cx="1005840" cy="256032"/>
          </a:xfrm>
          <a:prstGeom prst="rect">
            <a:avLst/>
          </a:prstGeom>
          <a:solidFill>
            <a:srgbClr val="1F4E78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Δ</a:t>
            </a:r>
            <a:endParaRPr lang="en-US" sz="870" dirty="0"/>
          </a:p>
        </p:txBody>
      </p:sp>
      <p:sp>
        <p:nvSpPr>
          <p:cNvPr id="9" name="Text 5"/>
          <p:cNvSpPr/>
          <p:nvPr/>
        </p:nvSpPr>
        <p:spPr>
          <a:xfrm>
            <a:off x="685800" y="5056632"/>
            <a:ext cx="137160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Alpha</a:t>
            </a:r>
            <a:endParaRPr lang="en-US" sz="870" dirty="0"/>
          </a:p>
        </p:txBody>
      </p:sp>
      <p:sp>
        <p:nvSpPr>
          <p:cNvPr id="10" name="Text 6"/>
          <p:cNvSpPr/>
          <p:nvPr/>
        </p:nvSpPr>
        <p:spPr>
          <a:xfrm>
            <a:off x="2057400" y="5056632"/>
            <a:ext cx="82296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</a:t>
            </a:r>
            <a:endParaRPr lang="en-US" sz="870" dirty="0"/>
          </a:p>
        </p:txBody>
      </p:sp>
      <p:sp>
        <p:nvSpPr>
          <p:cNvPr id="11" name="Text 7"/>
          <p:cNvSpPr/>
          <p:nvPr/>
        </p:nvSpPr>
        <p:spPr>
          <a:xfrm>
            <a:off x="2880360" y="5056632"/>
            <a:ext cx="100584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+16.7pp</a:t>
            </a:r>
            <a:endParaRPr lang="en-US" sz="870" dirty="0"/>
          </a:p>
        </p:txBody>
      </p:sp>
      <p:sp>
        <p:nvSpPr>
          <p:cNvPr id="12" name="Text 8"/>
          <p:cNvSpPr/>
          <p:nvPr/>
        </p:nvSpPr>
        <p:spPr>
          <a:xfrm>
            <a:off x="685800" y="5312664"/>
            <a:ext cx="1371600" cy="256032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Beta</a:t>
            </a:r>
            <a:endParaRPr lang="en-US" sz="870" dirty="0"/>
          </a:p>
        </p:txBody>
      </p:sp>
      <p:sp>
        <p:nvSpPr>
          <p:cNvPr id="13" name="Text 9"/>
          <p:cNvSpPr/>
          <p:nvPr/>
        </p:nvSpPr>
        <p:spPr>
          <a:xfrm>
            <a:off x="2057400" y="5312664"/>
            <a:ext cx="822960" cy="256032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</a:t>
            </a:r>
            <a:endParaRPr lang="en-US" sz="870" dirty="0"/>
          </a:p>
        </p:txBody>
      </p:sp>
      <p:sp>
        <p:nvSpPr>
          <p:cNvPr id="14" name="Text 10"/>
          <p:cNvSpPr/>
          <p:nvPr/>
        </p:nvSpPr>
        <p:spPr>
          <a:xfrm>
            <a:off x="2880360" y="5312664"/>
            <a:ext cx="1005840" cy="256032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+8.3pp</a:t>
            </a:r>
            <a:endParaRPr lang="en-US" sz="870" dirty="0"/>
          </a:p>
        </p:txBody>
      </p:sp>
      <p:sp>
        <p:nvSpPr>
          <p:cNvPr id="15" name="Text 11"/>
          <p:cNvSpPr/>
          <p:nvPr/>
        </p:nvSpPr>
        <p:spPr>
          <a:xfrm>
            <a:off x="685800" y="5568696"/>
            <a:ext cx="137160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Gamma</a:t>
            </a:r>
            <a:endParaRPr lang="en-US" sz="870" dirty="0"/>
          </a:p>
        </p:txBody>
      </p:sp>
      <p:sp>
        <p:nvSpPr>
          <p:cNvPr id="16" name="Text 12"/>
          <p:cNvSpPr/>
          <p:nvPr/>
        </p:nvSpPr>
        <p:spPr>
          <a:xfrm>
            <a:off x="2057400" y="5568696"/>
            <a:ext cx="82296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</a:t>
            </a:r>
            <a:endParaRPr lang="en-US" sz="870" dirty="0"/>
          </a:p>
        </p:txBody>
      </p:sp>
      <p:sp>
        <p:nvSpPr>
          <p:cNvPr id="17" name="Text 13"/>
          <p:cNvSpPr/>
          <p:nvPr/>
        </p:nvSpPr>
        <p:spPr>
          <a:xfrm>
            <a:off x="2880360" y="5568696"/>
            <a:ext cx="100584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+33.3pp</a:t>
            </a:r>
            <a:endParaRPr lang="en-US" sz="870" dirty="0"/>
          </a:p>
        </p:txBody>
      </p:sp>
      <p:sp>
        <p:nvSpPr>
          <p:cNvPr id="18" name="Text 14"/>
          <p:cNvSpPr/>
          <p:nvPr/>
        </p:nvSpPr>
        <p:spPr>
          <a:xfrm>
            <a:off x="685800" y="5824728"/>
            <a:ext cx="1371600" cy="256032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Delta</a:t>
            </a:r>
            <a:endParaRPr lang="en-US" sz="870" dirty="0"/>
          </a:p>
        </p:txBody>
      </p:sp>
      <p:sp>
        <p:nvSpPr>
          <p:cNvPr id="19" name="Text 15"/>
          <p:cNvSpPr/>
          <p:nvPr/>
        </p:nvSpPr>
        <p:spPr>
          <a:xfrm>
            <a:off x="2057400" y="5824728"/>
            <a:ext cx="822960" cy="256032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</a:t>
            </a:r>
            <a:endParaRPr lang="en-US" sz="870" dirty="0"/>
          </a:p>
        </p:txBody>
      </p:sp>
      <p:sp>
        <p:nvSpPr>
          <p:cNvPr id="20" name="Text 16"/>
          <p:cNvSpPr/>
          <p:nvPr/>
        </p:nvSpPr>
        <p:spPr>
          <a:xfrm>
            <a:off x="2880360" y="5824728"/>
            <a:ext cx="1005840" cy="256032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−16.7pp</a:t>
            </a:r>
            <a:endParaRPr lang="en-US" sz="870" dirty="0"/>
          </a:p>
        </p:txBody>
      </p:sp>
      <p:sp>
        <p:nvSpPr>
          <p:cNvPr id="21" name="Text 17"/>
          <p:cNvSpPr/>
          <p:nvPr/>
        </p:nvSpPr>
        <p:spPr>
          <a:xfrm>
            <a:off x="685800" y="6080760"/>
            <a:ext cx="137160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Epsilon</a:t>
            </a:r>
            <a:endParaRPr lang="en-US" sz="870" dirty="0"/>
          </a:p>
        </p:txBody>
      </p:sp>
      <p:sp>
        <p:nvSpPr>
          <p:cNvPr id="22" name="Text 18"/>
          <p:cNvSpPr/>
          <p:nvPr/>
        </p:nvSpPr>
        <p:spPr>
          <a:xfrm>
            <a:off x="2057400" y="6080760"/>
            <a:ext cx="82296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</a:t>
            </a:r>
            <a:endParaRPr lang="en-US" sz="870" dirty="0"/>
          </a:p>
        </p:txBody>
      </p:sp>
      <p:sp>
        <p:nvSpPr>
          <p:cNvPr id="23" name="Text 19"/>
          <p:cNvSpPr/>
          <p:nvPr/>
        </p:nvSpPr>
        <p:spPr>
          <a:xfrm>
            <a:off x="2880360" y="6080760"/>
            <a:ext cx="1005840" cy="256032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+41.7pp</a:t>
            </a:r>
            <a:endParaRPr lang="en-US" sz="870" dirty="0"/>
          </a:p>
        </p:txBody>
      </p:sp>
      <p:sp>
        <p:nvSpPr>
          <p:cNvPr id="24" name="Text 20"/>
          <p:cNvSpPr/>
          <p:nvPr/>
        </p:nvSpPr>
        <p:spPr>
          <a:xfrm>
            <a:off x="4617720" y="4892040"/>
            <a:ext cx="6903720" cy="777240"/>
          </a:xfrm>
          <a:prstGeom prst="rect">
            <a:avLst/>
          </a:prstGeom>
          <a:solidFill>
            <a:srgbClr val="F8FBFF"/>
          </a:solidFill>
          <a:ln w="13970">
            <a:solidFill>
              <a:srgbClr val="1F4E78">
                <a:alpha val="8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Managerial focus: Team Delta improved volume but reduced SLA compliance; Team Epsilon and Gamma show the strongest SLA recovery and are candidates for process practice review.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Process Quality KPI Reporting Automation · Portfolio case study</a:t>
            </a:r>
            <a:endParaRPr lang="en-US" sz="720" dirty="0"/>
          </a:p>
        </p:txBody>
      </p:sp>
      <p:sp>
        <p:nvSpPr>
          <p:cNvPr id="26" name="Text 22"/>
          <p:cNvSpPr/>
          <p:nvPr/>
        </p:nvSpPr>
        <p:spPr>
          <a:xfrm>
            <a:off x="11475720" y="649224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mix: priority escalation share decreased despite higher volume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recent week was not driven only by urgent work; the task mix remained distributed across all four work types.</a:t>
            </a:r>
            <a:endParaRPr lang="en-US" sz="9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85800" y="1170432"/>
          <a:ext cx="41605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257800" y="1417320"/>
            <a:ext cx="2011680" cy="274320"/>
          </a:xfrm>
          <a:prstGeom prst="rect">
            <a:avLst/>
          </a:prstGeom>
          <a:solidFill>
            <a:srgbClr val="1F4E78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Type</a:t>
            </a:r>
            <a:endParaRPr lang="en-US" sz="880" dirty="0"/>
          </a:p>
        </p:txBody>
      </p:sp>
      <p:sp>
        <p:nvSpPr>
          <p:cNvPr id="6" name="Text 3"/>
          <p:cNvSpPr/>
          <p:nvPr/>
        </p:nvSpPr>
        <p:spPr>
          <a:xfrm>
            <a:off x="7269480" y="1417320"/>
            <a:ext cx="777240" cy="274320"/>
          </a:xfrm>
          <a:prstGeom prst="rect">
            <a:avLst/>
          </a:prstGeom>
          <a:solidFill>
            <a:srgbClr val="1F4E78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Share</a:t>
            </a:r>
            <a:endParaRPr lang="en-US" sz="880" dirty="0"/>
          </a:p>
        </p:txBody>
      </p:sp>
      <p:sp>
        <p:nvSpPr>
          <p:cNvPr id="7" name="Text 4"/>
          <p:cNvSpPr/>
          <p:nvPr/>
        </p:nvSpPr>
        <p:spPr>
          <a:xfrm>
            <a:off x="5257800" y="1691640"/>
            <a:ext cx="20116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Review</a:t>
            </a:r>
            <a:endParaRPr lang="en-US" sz="880" dirty="0"/>
          </a:p>
        </p:txBody>
      </p:sp>
      <p:sp>
        <p:nvSpPr>
          <p:cNvPr id="8" name="Text 5"/>
          <p:cNvSpPr/>
          <p:nvPr/>
        </p:nvSpPr>
        <p:spPr>
          <a:xfrm>
            <a:off x="7269480" y="1691640"/>
            <a:ext cx="77724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26.8%</a:t>
            </a:r>
            <a:endParaRPr lang="en-US" sz="880" dirty="0"/>
          </a:p>
        </p:txBody>
      </p:sp>
      <p:sp>
        <p:nvSpPr>
          <p:cNvPr id="9" name="Text 6"/>
          <p:cNvSpPr/>
          <p:nvPr/>
        </p:nvSpPr>
        <p:spPr>
          <a:xfrm>
            <a:off x="5257800" y="1965960"/>
            <a:ext cx="2011680" cy="274320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Case Review</a:t>
            </a:r>
            <a:endParaRPr lang="en-US" sz="880" dirty="0"/>
          </a:p>
        </p:txBody>
      </p:sp>
      <p:sp>
        <p:nvSpPr>
          <p:cNvPr id="10" name="Text 7"/>
          <p:cNvSpPr/>
          <p:nvPr/>
        </p:nvSpPr>
        <p:spPr>
          <a:xfrm>
            <a:off x="7269480" y="1965960"/>
            <a:ext cx="777240" cy="274320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23.2%</a:t>
            </a:r>
            <a:endParaRPr lang="en-US" sz="880" dirty="0"/>
          </a:p>
        </p:txBody>
      </p:sp>
      <p:sp>
        <p:nvSpPr>
          <p:cNvPr id="11" name="Text 8"/>
          <p:cNvSpPr/>
          <p:nvPr/>
        </p:nvSpPr>
        <p:spPr>
          <a:xfrm>
            <a:off x="5257800" y="2240280"/>
            <a:ext cx="201168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 Exception Investigation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7269480" y="2240280"/>
            <a:ext cx="777240" cy="274320"/>
          </a:xfrm>
          <a:prstGeom prst="rect">
            <a:avLst/>
          </a:prstGeom>
          <a:solidFill>
            <a:srgbClr val="FFFFFF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21.4%</a:t>
            </a:r>
            <a:endParaRPr lang="en-US" sz="880" dirty="0"/>
          </a:p>
        </p:txBody>
      </p:sp>
      <p:sp>
        <p:nvSpPr>
          <p:cNvPr id="13" name="Text 10"/>
          <p:cNvSpPr/>
          <p:nvPr/>
        </p:nvSpPr>
        <p:spPr>
          <a:xfrm>
            <a:off x="5257800" y="2514600"/>
            <a:ext cx="2011680" cy="274320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Escalation Review</a:t>
            </a:r>
            <a:endParaRPr lang="en-US" sz="880" dirty="0"/>
          </a:p>
        </p:txBody>
      </p:sp>
      <p:sp>
        <p:nvSpPr>
          <p:cNvPr id="14" name="Text 11"/>
          <p:cNvSpPr/>
          <p:nvPr/>
        </p:nvSpPr>
        <p:spPr>
          <a:xfrm>
            <a:off x="7269480" y="2514600"/>
            <a:ext cx="777240" cy="274320"/>
          </a:xfrm>
          <a:prstGeom prst="rect">
            <a:avLst/>
          </a:prstGeom>
          <a:solidFill>
            <a:srgbClr val="EEF6FC"/>
          </a:solidFill>
          <a:ln w="5080">
            <a:solidFill>
              <a:srgbClr val="CAD3DF">
                <a:alpha val="7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28.6%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8778240" y="1325880"/>
            <a:ext cx="22402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5DCE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4F89C7"/>
                </a:solidFill>
              </a:rPr>
              <a:t>28.6%
</a:t>
            </a:r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Priority share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down from 31.8%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8778240" y="2606040"/>
            <a:ext cx="224028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5DCE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</a:rPr>
              <a:t>56
</a:t>
            </a:r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Recent tasks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+12 WoW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5257800" y="3886200"/>
            <a:ext cx="5943600" cy="914400"/>
          </a:xfrm>
          <a:prstGeom prst="rect">
            <a:avLst/>
          </a:prstGeom>
          <a:solidFill>
            <a:srgbClr val="F8FBFF"/>
          </a:solidFill>
          <a:ln w="13970">
            <a:solidFill>
              <a:srgbClr val="70AD47">
                <a:alpha val="8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Insight: Priority Escalation Review remained the largest single category, but its share fell by 3.2 percentage points because non-priority categories grew faster.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Process Quality KPI Reporting Automation · Portfolio case study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11475720" y="649224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Automated report output used for management review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final workbook consolidates task-level rows and formula-driven KPI summaries.</a:t>
            </a:r>
            <a:endParaRPr lang="en-US" sz="950" dirty="0"/>
          </a:p>
        </p:txBody>
      </p:sp>
      <p:pic>
        <p:nvPicPr>
          <p:cNvPr id="4" name="Image 0" descr="/mnt/data/Screenshot 2026-07-13 014015.png">    </p:cNvPr>
          <p:cNvPicPr>
            <a:picLocks noChangeAspect="1"/>
          </p:cNvPicPr>
          <p:nvPr/>
        </p:nvPicPr>
        <p:blipFill>
          <a:blip r:embed="rId1"/>
          <a:srcRect l="3501" r="3501" t="0" b="0"/>
          <a:stretch/>
        </p:blipFill>
        <p:spPr>
          <a:xfrm>
            <a:off x="594360" y="1143000"/>
            <a:ext cx="612648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0" y="1325880"/>
            <a:ext cx="4343400" cy="685800"/>
          </a:xfrm>
          <a:prstGeom prst="rect">
            <a:avLst/>
          </a:prstGeom>
          <a:solidFill>
            <a:srgbClr val="F8FBFF"/>
          </a:solidFill>
          <a:ln w="13970">
            <a:solidFill>
              <a:srgbClr val="1F4E78">
                <a:alpha val="8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Inputs: SQL extracts closed tasks from the two most recent completed Monday–Sunday weeks.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7132320" y="2331720"/>
            <a:ext cx="4343400" cy="777240"/>
          </a:xfrm>
          <a:prstGeom prst="rect">
            <a:avLst/>
          </a:prstGeom>
          <a:solidFill>
            <a:srgbClr val="F8FBFF"/>
          </a:solidFill>
          <a:ln w="13970">
            <a:solidFill>
              <a:srgbClr val="4F89C7">
                <a:alpha val="8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Processing: Python maps task tags to task types and filters records by team tag + agent name.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32320" y="3474720"/>
            <a:ext cx="4343400" cy="777240"/>
          </a:xfrm>
          <a:prstGeom prst="rect">
            <a:avLst/>
          </a:prstGeom>
          <a:solidFill>
            <a:srgbClr val="F8FBFF"/>
          </a:solidFill>
          <a:ln w="13970">
            <a:solidFill>
              <a:srgbClr val="70AD47">
                <a:alpha val="8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Output: Excel tables calculate weekly totals, SLA results, task-type mix, and team-level movement.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132320" y="4617720"/>
            <a:ext cx="4343400" cy="777240"/>
          </a:xfrm>
          <a:prstGeom prst="rect">
            <a:avLst/>
          </a:prstGeom>
          <a:solidFill>
            <a:srgbClr val="F8FBFF"/>
          </a:solidFill>
          <a:ln w="13970">
            <a:solidFill>
              <a:srgbClr val="F4B183">
                <a:alpha val="8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Impact: leadership can compare performance without manual consolidation of multiple team tabs.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Process Quality KPI Reporting Automation · Portfolio case study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11475720" y="649224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Case-study conclusion: what the KPI report proves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02920" y="71323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The project demonstrates both technical automation and operational performance analysis.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2331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5DCE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F4E78"/>
                </a:solidFill>
              </a:rPr>
              <a:t>100 rows
</a:t>
            </a:r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Automation scope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two-week sample dataset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46120" y="1234440"/>
            <a:ext cx="2331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5DCE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0AD47"/>
                </a:solidFill>
              </a:rPr>
              <a:t>+27.3%
</a:t>
            </a:r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Efficiency signal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task throughput growth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806440" y="1234440"/>
            <a:ext cx="2331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5DCE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70AD47"/>
                </a:solidFill>
              </a:rPr>
              <a:t>+18.8pp
</a:t>
            </a:r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Control signal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SLA compliance improvement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366760" y="1234440"/>
            <a:ext cx="233172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5DCE8">
                <a:alpha val="90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C00000"/>
                </a:solidFill>
              </a:rPr>
              <a:t>−28.6%
</a:t>
            </a:r>
            <a:pPr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Risk signal</a:t>
            </a:r>
            <a:pPr indent="0" marL="0">
              <a:buNone/>
            </a:pPr>
            <a:endParaRPr lang="en-US" sz="2800" dirty="0"/>
          </a:p>
          <a:p>
            <a:pPr indent="0" marL="0">
              <a:buNone/>
            </a:pPr>
            <a:r>
              <a:rPr lang="en-US" sz="920" dirty="0">
                <a:solidFill>
                  <a:srgbClr val="6B7280"/>
                </a:solidFill>
              </a:rPr>
              <a:t>SLA breach reduction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Skills demonstrated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SQL extraction • Python/Pandas preparation • tag-based task classification • team mapping • Excel KPI modelling • stakeholder-ready reporting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65D"/>
                </a:solidFill>
              </a:rPr>
              <a:t>Portfolio narrative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5262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This is a production-inspired reporting workflow: raw operational task data is transformed into a structured performance pack that highlights workload, SLA risk, and team-level trends.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31520" y="5715000"/>
            <a:ext cx="10515600" cy="502920"/>
          </a:xfrm>
          <a:prstGeom prst="rect">
            <a:avLst/>
          </a:prstGeom>
          <a:solidFill>
            <a:srgbClr val="F8FBFF"/>
          </a:solidFill>
          <a:ln w="13970">
            <a:solidFill>
              <a:srgbClr val="1F4E78">
                <a:alpha val="8500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Core message: the report does not just show counts — it identifies where operational performance improved and where management attention is still needed.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Process Quality KPI Reporting Automation · Portfolio case study</a:t>
            </a:r>
            <a:endParaRPr lang="en-US" sz="720" dirty="0"/>
          </a:p>
        </p:txBody>
      </p:sp>
      <p:sp>
        <p:nvSpPr>
          <p:cNvPr id="14" name="Text 12"/>
          <p:cNvSpPr/>
          <p:nvPr/>
        </p:nvSpPr>
        <p:spPr>
          <a:xfrm>
            <a:off x="11475720" y="649224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8A95A4"/>
                </a:solidFill>
              </a:rPr>
              <a:t>8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Portfolio Case Study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 Quality KPI Report Case Study</dc:title>
  <dc:subject>Process Quality KPI Reporting Automation Case Study</dc:subject>
  <dc:creator>OpenAI</dc:creator>
  <cp:lastModifiedBy>OpenAI</cp:lastModifiedBy>
  <cp:revision>1</cp:revision>
  <dcterms:created xsi:type="dcterms:W3CDTF">2026-07-13T00:44:15Z</dcterms:created>
  <dcterms:modified xsi:type="dcterms:W3CDTF">2026-07-13T00:44:15Z</dcterms:modified>
</cp:coreProperties>
</file>